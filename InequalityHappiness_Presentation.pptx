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900" b="0" i="0" u="none" strike="noStrike">
                <a:solidFill>
                  <a:srgbClr val="AAAAAA"/>
                </a:solidFill>
                <a:latin typeface="Arial"/>
              </a:defRPr>
            </a:pPr>
            <a:r>
              <a:rPr sz="900" b="0" i="0" u="none" strike="noStrike">
                <a:solidFill>
                  <a:srgbClr val="AAAAAA"/>
                </a:solidFill>
                <a:latin typeface="Arial"/>
              </a:rPr>
              <a:t>PC1 Weights  (dashed = equal weight 0.167)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upsec_location</c:v>
                  </c:pt>
                  <c:pt idx="1">
                    <c:v>math_wealth</c:v>
                  </c:pt>
                  <c:pt idx="2">
                    <c:v>upsec_wealth</c:v>
                  </c:pt>
                  <c:pt idx="3">
                    <c:v>upsec_sex</c:v>
                  </c:pt>
                  <c:pt idx="4">
                    <c:v>math_location</c:v>
                  </c:pt>
                  <c:pt idx="5">
                    <c:v>math_sex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0.203</c:v>
                </c:pt>
                <c:pt idx="1">
                  <c:v>0.185</c:v>
                </c:pt>
                <c:pt idx="2">
                  <c:v>0.177</c:v>
                </c:pt>
                <c:pt idx="3">
                  <c:v>0.157</c:v>
                </c:pt>
                <c:pt idx="4">
                  <c:v>0.156</c:v>
                </c:pt>
                <c:pt idx="5">
                  <c:v>0.123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25"/>
          <c:min val="0"/>
        </c:scaling>
        <c:delete val="0"/>
        <c:axPos val="b"/>
        <c:majorGridlines>
          <c:spPr>
            <a:ln w="6350" cap="flat">
              <a:solidFill>
                <a:srgbClr val="2D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CCCC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14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0F9B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9B8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7B3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A9D6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Education
Inequality</c:v>
                  </c:pt>
                  <c:pt idx="1">
                    <c:v>Income
Inequality (Gini)</c:v>
                  </c:pt>
                  <c:pt idx="2">
                    <c:v>Combined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0.369</c:v>
                </c:pt>
                <c:pt idx="1">
                  <c:v>0.062</c:v>
                </c:pt>
                <c:pt idx="2">
                  <c:v>0.371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"/>
          <c:min val="0"/>
        </c:scaling>
        <c:delete val="0"/>
        <c:axPos val="l"/>
        <c:majorGridlines>
          <c:spPr>
            <a:ln w="6350" cap="flat">
              <a:solidFill>
                <a:srgbClr val="2D4A6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AAAAA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314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2000" b="1" dirty="0">
                <a:solidFill>
                  <a:srgbClr val="1E3148">
                    <a:alpha val="35000"/>
                  </a:srgbClr>
                </a:solidFill>
              </a:rPr>
              <a:t>?</a:t>
            </a:r>
            <a:endParaRPr lang="en-US" sz="32000" dirty="0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Educational Inequality
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Stronger Predictor of
</a:t>
            </a:r>
            <a:pPr indent="0" marL="0">
              <a:buNone/>
            </a:pPr>
            <a:r>
              <a:rPr lang="en-US" sz="32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Happiness
</a:t>
            </a:r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 Income Inequality?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411480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Mobin Seyedmohammadi  ·  Arta Asadi Haghi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448056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Sapienza University of Rome  ·  Data &amp; Business Management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4754880"/>
            <a:ext cx="2148840" cy="274320"/>
          </a:xfrm>
          <a:prstGeom prst="roundRect">
            <a:avLst>
              <a:gd name="adj" fmla="val 20000"/>
            </a:avLst>
          </a:prstGeom>
          <a:solidFill>
            <a:srgbClr val="2D4A6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4773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WIDE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4754880"/>
            <a:ext cx="2148840" cy="274320"/>
          </a:xfrm>
          <a:prstGeom prst="roundRect">
            <a:avLst>
              <a:gd name="adj" fmla="val 20000"/>
            </a:avLst>
          </a:prstGeom>
          <a:solidFill>
            <a:srgbClr val="2D4A6B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4773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Gini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4754880"/>
            <a:ext cx="2148840" cy="274320"/>
          </a:xfrm>
          <a:prstGeom prst="roundRect">
            <a:avLst>
              <a:gd name="adj" fmla="val 20000"/>
            </a:avLst>
          </a:prstGeom>
          <a:solidFill>
            <a:srgbClr val="2D4A6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4773168"/>
            <a:ext cx="21488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1188720"/>
          </a:xfrm>
          <a:prstGeom prst="rect">
            <a:avLst/>
          </a:prstGeom>
          <a:solidFill>
            <a:srgbClr val="0F9B8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170432"/>
            <a:ext cx="81381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Yes — and it's not close.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627632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inequality explains 37% of cross-national happiness variance vs 6% for income inequality.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2468880"/>
            <a:ext cx="2743200" cy="23774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2468880"/>
            <a:ext cx="274320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" y="2606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0.369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9768" y="3310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alone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of variance explained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2468880"/>
            <a:ext cx="2743200" cy="23774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2468880"/>
            <a:ext cx="274320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4" name="Text 12"/>
          <p:cNvSpPr/>
          <p:nvPr/>
        </p:nvSpPr>
        <p:spPr>
          <a:xfrm>
            <a:off x="3355848" y="2606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7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R² = 0.062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55848" y="3310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alone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6× weaker than EII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2468880"/>
            <a:ext cx="2743200" cy="23774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72200" y="2468880"/>
            <a:ext cx="274320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7"/>
          <p:cNvSpPr/>
          <p:nvPr/>
        </p:nvSpPr>
        <p:spPr>
          <a:xfrm>
            <a:off x="6281928" y="2606040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 = 0.647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81928" y="3310128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 joint model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3703320"/>
            <a:ext cx="2514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significant — EII dominates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Question Matters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74904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83464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inequality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widely studied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Gini coefficient and happiness have been extensively researched — yet results remain mixed and context-dependent.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834640" cy="374904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1097280"/>
            <a:ext cx="283464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Educational inequality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less explored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4231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Disparities in schooling access across gender, wealth, and location shape social mobility and life opportunities — yet rarely tested against happiness.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097280"/>
            <a:ext cx="2834640" cy="374904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097280"/>
            <a:ext cx="2834640" cy="64008"/>
          </a:xfrm>
          <a:prstGeom prst="rect">
            <a:avLst/>
          </a:prstGeom>
          <a:solidFill>
            <a:srgbClr val="2A9D6F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23444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1719072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is the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stronger predictor?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5603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both are measured rigorously and compared in the same model, which form of inequality has a stronger and more robust relationship with national happiness?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Sources &amp; Analytical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54864" cy="38404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530352" y="1499616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UNESCO WIDE Dataset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30352" y="17373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educational gap indicators across sex, wealth &amp; location · 177 countries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167128"/>
            <a:ext cx="54864" cy="38404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157984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Gini Index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39572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recent available value per country · reliability-flagged (≥5 yrs = reliable)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825496"/>
            <a:ext cx="54864" cy="38404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816352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Happiness Report 2025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" y="30540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Cantril Ladder scores · 2024 Gallup World Poll wave · 147 countries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3493008"/>
            <a:ext cx="3931920" cy="137160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merged dataset: 113 countries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177 </a:t>
            </a:r>
            <a:pPr indent="0" marL="0">
              <a:buNone/>
            </a:pPr>
            <a:r>
              <a:rPr lang="en-US" sz="11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EII  →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168 </a:t>
            </a:r>
            <a:pPr indent="0" marL="0">
              <a:buNone/>
            </a:pPr>
            <a:r>
              <a:rPr lang="en-US" sz="11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Gini  →  </a:t>
            </a:r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 </a:t>
            </a:r>
            <a:pPr indent="0" marL="0">
              <a:buNone/>
            </a:pPr>
            <a:r>
              <a:rPr lang="en-US" sz="11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final sample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31596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countries have slightly higher mean EII (0.396 vs 0.359) → conservative bias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663440" y="1051560"/>
            <a:ext cx="4160520" cy="384048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11704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PIPELINE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155448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Coverage analysis → justify 3 disparity dimensions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00600" y="190195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Compute 6 relative gap indicators per country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00600" y="22494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Missingness analysis → systematic bias check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00600" y="259689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Mean imputation → standardise → PCA weights → EII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294436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Gini: most-recent value + reliability flag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32918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 Three-way merge on country name (n=113)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639312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 OLS regression × 3 models (HC3 robust SEs)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98678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⑧ VIF · Cook's D · Bootstrap CI · Random Forest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00600" y="433425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⑨ Bonferroni-corrected multiple comparisons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 the Education Inequality Index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14800" cy="201168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0700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Three-Step Construction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 Standardise  →  z = (x − μ) / σ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204825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 Weight  →  EII* = Σ wⱼ · zᵢⱼ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52374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 Min-max scale  →  EII ∈ [0, 1]</a:t>
            </a:r>
            <a:endParaRPr lang="en-US" sz="12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3246120"/>
          <a:ext cx="411480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4663440" y="1097280"/>
            <a:ext cx="4206240" cy="384048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800600" y="1207008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PCA Weights?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800600" y="16276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 explains 49.2%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800600" y="188366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double any other component — justifies using PC1 loadings as the sole weight source.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800600" y="2404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components → 80%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800600" y="266090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 multidimensionality in educational inequality that a single index cannot fully capture.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800600" y="318211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&gt; Wealth &gt; Sex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800600" y="343814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access is the dominant driver. Sex gaps carry least weight — gender parity has improved more.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4800600" y="39593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first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00600" y="4215384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before PCA to prevent scale dominance — avoids methodological inconsistency in the original analysis.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Quality: Two Critical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6052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🎓  Education Missingness is Systematic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384048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indicators are missing for </a:t>
            </a:r>
            <a:pPr indent="0" marL="0">
              <a:buNone/>
            </a:pPr>
            <a:r>
              <a:rPr lang="en-US" sz="11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50–100%</a:t>
            </a:r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low-income countries, vs near-zero for high-income.
</a:t>
            </a:r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Implication:</a:t>
            </a:r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Mean imputation pulls low-income EII scores toward the global average — likely </a:t>
            </a:r>
            <a:pPr indent="0" marL="0">
              <a:buNone/>
            </a:pPr>
            <a:r>
              <a:rPr lang="en-US" sz="11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underestimating true inequality</a:t>
            </a:r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poorest nations.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findings are therefore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estimates.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97280"/>
            <a:ext cx="416052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2070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7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💰  Gini Coverage is Severely Uneven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16642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countries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901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fewer than 5 years of data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23042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= 3 years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25420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25 possible (2000–2024)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846320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0.920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18211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vs most-recent Gini — near-identical rankings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846320" y="3730752"/>
            <a:ext cx="3840480" cy="96012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18" name="Text 16"/>
          <p:cNvSpPr/>
          <p:nvPr/>
        </p:nvSpPr>
        <p:spPr>
          <a:xfrm>
            <a:off x="4956048" y="3803904"/>
            <a:ext cx="3657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</a:t>
            </a:r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most-recent value (not mean) + reliability flag (≥5 yrs). Sensitivity check run on reliable-only subsample (n=82).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the Variables Relate?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274320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EII ↔ Happiness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6002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−0.608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38404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−0.619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0.001***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788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— more educational inequality = less happy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Pearson ≈ Spearman (Δ=0.011)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46120" y="1097280"/>
            <a:ext cx="2788920" cy="274320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097280"/>
            <a:ext cx="278892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3" name="Text 11"/>
          <p:cNvSpPr/>
          <p:nvPr/>
        </p:nvSpPr>
        <p:spPr>
          <a:xfrm>
            <a:off x="3355848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Gini ↔ Happiness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55848" y="16002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07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−0.248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35584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−0.244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55848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0.007***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55848" y="2788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negative — income inequality weakly predicts lower happiness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Robust: Pearson ≈ Spearman (Δ=0.005)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097280"/>
            <a:ext cx="2788920" cy="274320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097280"/>
            <a:ext cx="2788920" cy="64008"/>
          </a:xfrm>
          <a:prstGeom prst="rect">
            <a:avLst/>
          </a:prstGeom>
          <a:solidFill>
            <a:srgbClr val="8BA4BB"/>
          </a:solidFill>
          <a:ln/>
        </p:spPr>
      </p:sp>
      <p:sp>
        <p:nvSpPr>
          <p:cNvPr id="20" name="Text 18"/>
          <p:cNvSpPr/>
          <p:nvPr/>
        </p:nvSpPr>
        <p:spPr>
          <a:xfrm>
            <a:off x="6327648" y="1234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EII ↔ Gini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27648" y="1600200"/>
            <a:ext cx="2560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8BA4B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+0.470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6327648" y="219456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+0.523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27648" y="2468880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0.001***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27648" y="278892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positive — they co-vary but are distinct</a:t>
            </a: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 non-linearity: Spearman &gt; Pearson by 0.053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4005072"/>
            <a:ext cx="8595360" cy="896112"/>
          </a:xfrm>
          <a:prstGeom prst="rect">
            <a:avLst/>
          </a:prstGeom>
          <a:solidFill>
            <a:srgbClr val="0F9B8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57200" y="4078224"/>
            <a:ext cx="82296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EII–Happiness correlation (r=−0.608) is 2.5× stronger than Gini–Happiness (r=−0.248).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correlations significant after Bonferroni correction (α/3 = 0.017). Pearson ≈ Spearman — results are robust to outliers.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OLS Regression Results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25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" y="1517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only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847088"/>
            <a:ext cx="2560320" cy="713232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" y="21031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0.369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84048" y="2670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−3.254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3035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0.001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456432"/>
            <a:ext cx="2697480" cy="118872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529584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alone explains 37% of happiness variance globally.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46120" y="1097280"/>
            <a:ext cx="27889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1097280"/>
            <a:ext cx="278892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7" name="Text 15"/>
          <p:cNvSpPr/>
          <p:nvPr/>
        </p:nvSpPr>
        <p:spPr>
          <a:xfrm>
            <a:off x="3355848" y="1225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7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55848" y="1517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55848" y="1847088"/>
            <a:ext cx="2560320" cy="713232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55848" y="21031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0.062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3355848" y="2670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 = −0.037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355848" y="3035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= 0.007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91840" y="3456432"/>
            <a:ext cx="2697480" cy="118872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25" name="Text 23"/>
          <p:cNvSpPr/>
          <p:nvPr/>
        </p:nvSpPr>
        <p:spPr>
          <a:xfrm>
            <a:off x="3383280" y="3529584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explains only 6%. Significant alone but 6× weaker.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217920" y="1097280"/>
            <a:ext cx="27889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1097280"/>
            <a:ext cx="2788920" cy="64008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28" name="Text 26"/>
          <p:cNvSpPr/>
          <p:nvPr/>
        </p:nvSpPr>
        <p:spPr>
          <a:xfrm>
            <a:off x="6327648" y="122529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F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3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327648" y="1517904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+ Gini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27648" y="1847088"/>
            <a:ext cx="2560320" cy="713232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31" name="Text 29"/>
          <p:cNvSpPr/>
          <p:nvPr/>
        </p:nvSpPr>
        <p:spPr>
          <a:xfrm>
            <a:off x="6327648" y="1883664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327648" y="2103120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0.371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27648" y="2670048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9B8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β_EII=−3.375 / β_Gini=+0.007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327648" y="3035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p&lt;0.001 / Gini p=0.647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63640" y="3456432"/>
            <a:ext cx="2697480" cy="118872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529584"/>
            <a:ext cx="251460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loses significance. Coefficient flips positive — no independent negative effect.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274320" y="4919472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models use HC3 heteroskedasticity-robust standard errors  ·  VIF = 1.28 (no multicollinearity)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Bootstrap R² Comparison (n=2,000 resamples)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005840"/>
          <a:ext cx="5120640" cy="3794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1005840"/>
            <a:ext cx="3200400" cy="379476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806440" y="11155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95% Bootstrap CI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69280" y="1554480"/>
            <a:ext cx="54864" cy="68580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1600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only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806440" y="1856232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0.374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086600" y="185623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[0.239, 0.502]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669280" y="2395728"/>
            <a:ext cx="54864" cy="685800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12" name="Text 9"/>
          <p:cNvSpPr/>
          <p:nvPr/>
        </p:nvSpPr>
        <p:spPr>
          <a:xfrm>
            <a:off x="5806440" y="244144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only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806440" y="269748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0.069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086600" y="269748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[0.006, 0.171]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669280" y="3236976"/>
            <a:ext cx="54864" cy="685800"/>
          </a:xfrm>
          <a:prstGeom prst="rect">
            <a:avLst/>
          </a:prstGeom>
          <a:solidFill>
            <a:srgbClr val="2A9D6F"/>
          </a:solidFill>
          <a:ln/>
        </p:spPr>
      </p:sp>
      <p:sp>
        <p:nvSpPr>
          <p:cNvPr id="16" name="Text 13"/>
          <p:cNvSpPr/>
          <p:nvPr/>
        </p:nvSpPr>
        <p:spPr>
          <a:xfrm>
            <a:off x="5806440" y="3282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06440" y="3538728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0.380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086600" y="35387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[0.247, 0.513]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806440" y="4160520"/>
            <a:ext cx="2926080" cy="502920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20" name="Text 17"/>
          <p:cNvSpPr/>
          <p:nvPr/>
        </p:nvSpPr>
        <p:spPr>
          <a:xfrm>
            <a:off x="5897880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 do not overlap → EII explains significantly more variance than Gini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Robustness: Three Independent Checks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7889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278892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070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84048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Exclude Influential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Observations (n=109)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2304288"/>
            <a:ext cx="91440" cy="9144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9" name="Text 7"/>
          <p:cNvSpPr/>
          <p:nvPr/>
        </p:nvSpPr>
        <p:spPr>
          <a:xfrm>
            <a:off x="530352" y="2240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Nicaragua — high EII, unexpectedly happy (Latin American paradox)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651760"/>
            <a:ext cx="91440" cy="9144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1" name="Text 9"/>
          <p:cNvSpPr/>
          <p:nvPr/>
        </p:nvSpPr>
        <p:spPr>
          <a:xfrm>
            <a:off x="530352" y="2587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Guatemala — same pattern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84048" y="2999232"/>
            <a:ext cx="91440" cy="9144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3" name="Text 11"/>
          <p:cNvSpPr/>
          <p:nvPr/>
        </p:nvSpPr>
        <p:spPr>
          <a:xfrm>
            <a:off x="530352" y="29352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Sierra Leone — high EII, very unhappy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346704"/>
            <a:ext cx="91440" cy="91440"/>
          </a:xfrm>
          <a:prstGeom prst="ellipse">
            <a:avLst/>
          </a:prstGeom>
          <a:solidFill>
            <a:srgbClr val="0F9B8E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" y="3282696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Ukraine — low EII, unhappy (conflict)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721608"/>
            <a:ext cx="2697480" cy="123444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79476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EII R² increases 0.369 → 0.431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p-value: 0.647 → 0.939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46120" y="1097280"/>
            <a:ext cx="27889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097280"/>
            <a:ext cx="278892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20" name="Text 18"/>
          <p:cNvSpPr/>
          <p:nvPr/>
        </p:nvSpPr>
        <p:spPr>
          <a:xfrm>
            <a:off x="3355848" y="12070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7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355848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Reliable Gini Only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(≥5 years, n=82)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55848" y="2304288"/>
            <a:ext cx="91440" cy="91440"/>
          </a:xfrm>
          <a:prstGeom prst="ellipse">
            <a:avLst/>
          </a:prstGeom>
          <a:solidFill>
            <a:srgbClr val="C07B3A"/>
          </a:solidFill>
          <a:ln/>
        </p:spPr>
      </p:sp>
      <p:sp>
        <p:nvSpPr>
          <p:cNvPr id="23" name="Text 21"/>
          <p:cNvSpPr/>
          <p:nvPr/>
        </p:nvSpPr>
        <p:spPr>
          <a:xfrm>
            <a:off x="3502152" y="2240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Restricts to countries with robust income inequality measurement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55848" y="2651760"/>
            <a:ext cx="91440" cy="91440"/>
          </a:xfrm>
          <a:prstGeom prst="ellipse">
            <a:avLst/>
          </a:prstGeom>
          <a:solidFill>
            <a:srgbClr val="C07B3A"/>
          </a:solidFill>
          <a:ln/>
        </p:spPr>
      </p:sp>
      <p:sp>
        <p:nvSpPr>
          <p:cNvPr id="25" name="Text 23"/>
          <p:cNvSpPr/>
          <p:nvPr/>
        </p:nvSpPr>
        <p:spPr>
          <a:xfrm>
            <a:off x="3502152" y="2587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31 countries with sparse Gini coverage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55848" y="2999232"/>
            <a:ext cx="91440" cy="91440"/>
          </a:xfrm>
          <a:prstGeom prst="ellipse">
            <a:avLst/>
          </a:prstGeom>
          <a:solidFill>
            <a:srgbClr val="C07B3A"/>
          </a:solidFill>
          <a:ln/>
        </p:spPr>
      </p:sp>
      <p:sp>
        <p:nvSpPr>
          <p:cNvPr id="27" name="Text 25"/>
          <p:cNvSpPr/>
          <p:nvPr/>
        </p:nvSpPr>
        <p:spPr>
          <a:xfrm>
            <a:off x="3502152" y="29352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if data quality drives results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91840" y="3374136"/>
            <a:ext cx="2697480" cy="123444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29" name="Text 27"/>
          <p:cNvSpPr/>
          <p:nvPr/>
        </p:nvSpPr>
        <p:spPr>
          <a:xfrm>
            <a:off x="3383280" y="34472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EII R² increases 0.369 → 0.390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p-value: 0.647 → 0.018*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*positive coefficient — suppression effect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217920" y="1097280"/>
            <a:ext cx="2788920" cy="37490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217920" y="1097280"/>
            <a:ext cx="2788920" cy="64008"/>
          </a:xfrm>
          <a:prstGeom prst="rect">
            <a:avLst/>
          </a:prstGeom>
          <a:solidFill>
            <a:srgbClr val="2A9D6F"/>
          </a:solidFill>
          <a:ln/>
        </p:spPr>
      </p:sp>
      <p:sp>
        <p:nvSpPr>
          <p:cNvPr id="32" name="Text 30"/>
          <p:cNvSpPr/>
          <p:nvPr/>
        </p:nvSpPr>
        <p:spPr>
          <a:xfrm>
            <a:off x="6327648" y="1207008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A9D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6327648" y="16916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Random Forest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Validation (CV R²)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27648" y="2304288"/>
            <a:ext cx="91440" cy="91440"/>
          </a:xfrm>
          <a:prstGeom prst="ellipse">
            <a:avLst/>
          </a:prstGeom>
          <a:solidFill>
            <a:srgbClr val="2A9D6F"/>
          </a:solidFill>
          <a:ln/>
        </p:spPr>
      </p:sp>
      <p:sp>
        <p:nvSpPr>
          <p:cNvPr id="35" name="Text 33"/>
          <p:cNvSpPr/>
          <p:nvPr/>
        </p:nvSpPr>
        <p:spPr>
          <a:xfrm>
            <a:off x="6473952" y="22402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Non-linear model — no linearity assumption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27648" y="2651760"/>
            <a:ext cx="91440" cy="91440"/>
          </a:xfrm>
          <a:prstGeom prst="ellipse">
            <a:avLst/>
          </a:prstGeom>
          <a:solidFill>
            <a:srgbClr val="2A9D6F"/>
          </a:solidFill>
          <a:ln/>
        </p:spPr>
      </p:sp>
      <p:sp>
        <p:nvSpPr>
          <p:cNvPr id="37" name="Text 35"/>
          <p:cNvSpPr/>
          <p:nvPr/>
        </p:nvSpPr>
        <p:spPr>
          <a:xfrm>
            <a:off x="6473952" y="2587752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Constrained: max_depth=3, min_leaf=10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27648" y="2999232"/>
            <a:ext cx="91440" cy="91440"/>
          </a:xfrm>
          <a:prstGeom prst="ellipse">
            <a:avLst/>
          </a:prstGeom>
          <a:solidFill>
            <a:srgbClr val="2A9D6F"/>
          </a:solidFill>
          <a:ln/>
        </p:spPr>
      </p:sp>
      <p:sp>
        <p:nvSpPr>
          <p:cNvPr id="39" name="Text 37"/>
          <p:cNvSpPr/>
          <p:nvPr/>
        </p:nvSpPr>
        <p:spPr>
          <a:xfrm>
            <a:off x="6473952" y="2935224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(100 repeats)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63640" y="3374136"/>
            <a:ext cx="2697480" cy="1234440"/>
          </a:xfrm>
          <a:prstGeom prst="rect">
            <a:avLst/>
          </a:prstGeom>
          <a:solidFill>
            <a:srgbClr val="1E3148"/>
          </a:solidFill>
          <a:ln/>
        </p:spPr>
      </p:sp>
      <p:sp>
        <p:nvSpPr>
          <p:cNvPr id="41" name="Text 39"/>
          <p:cNvSpPr/>
          <p:nvPr/>
        </p:nvSpPr>
        <p:spPr>
          <a:xfrm>
            <a:off x="6355080" y="3447288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CV R² = 0.357 ± 0.040 ≈ OLS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 importance: 0.758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2A9D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importance: 0.080 (9.5× smaller)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70F1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Geographic Story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160520" cy="374904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160520" cy="64008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Inequality (EII)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242316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EII 0.33–1.00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&amp; South Asia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42316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&amp; spread — 0.03–0.67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414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0.19–0.81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East/SE Asia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423160" y="2798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— 0.17–0.74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182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 &amp; N. America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zero — 0.02–0.28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703320"/>
            <a:ext cx="3840480" cy="914400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7764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Soviet states (Belarus, Ukraine, Kazakhstan...) dominate the lowest-EII group — a measurable legacy of universally accessible Soviet-era education.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1097280"/>
            <a:ext cx="4160520" cy="374904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1097280"/>
            <a:ext cx="4160520" cy="64008"/>
          </a:xfrm>
          <a:prstGeom prst="rect">
            <a:avLst/>
          </a:prstGeom>
          <a:solidFill>
            <a:srgbClr val="C07B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207008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7B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Income Inequality (Gini)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16459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Latin America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8580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— Gini 45–63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2029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Sub-Saharan Africa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858000" y="202996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but variable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241401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&amp; Oceania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858000" y="2414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35–45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279806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858000" y="2798064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— 30–50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18211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858000" y="318211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4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— 25–35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703320"/>
            <a:ext cx="3840480" cy="914400"/>
          </a:xfrm>
          <a:prstGeom prst="rect">
            <a:avLst/>
          </a:prstGeom>
          <a:solidFill>
            <a:srgbClr val="2D4A6B"/>
          </a:solidFill>
          <a:ln/>
        </p:spPr>
      </p:sp>
      <p:sp>
        <p:nvSpPr>
          <p:cNvPr id="33" name="Text 31"/>
          <p:cNvSpPr/>
          <p:nvPr/>
        </p:nvSpPr>
        <p:spPr>
          <a:xfrm>
            <a:off x="4937760" y="3776472"/>
            <a:ext cx="3657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contrast: Latin America dominates high Gini but has only moderate EII. Sub-Saharan Africa dominates high EII but not necessarily the highest Gini. The two inequalities map to different geographies.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&amp; Assumptions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20624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11480" y="12252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⚠  Correlation ≠ Causation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2763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Cross-sectional design. Reverse causality (happier societies invest more in education) cannot be ruled out without longitudinal data.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420624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22529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📉  GDP Confounding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62763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Wealthier nations have both lower EII and higher happiness. Controlling for GDP per capita is the most critical unresolved threat.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3063240"/>
            <a:ext cx="420624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" y="31912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📋  Systematic Missingness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" y="359359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Low-income countries disproportionately missing math data. Mean imputation likely underestimates inequality for poorest nations.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54880" y="3063240"/>
            <a:ext cx="4206240" cy="1691640"/>
          </a:xfrm>
          <a:prstGeom prst="rect">
            <a:avLst/>
          </a:prstGeom>
          <a:solidFill>
            <a:srgbClr val="0D1F35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319125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🗺  Sample Loss (n=113)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3593592"/>
            <a:ext cx="3931920" cy="10241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of 177 countries lost in merge. Lost countries have higher mean EII — results are conservative estimates of the true effect.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0" b="1" dirty="0">
                <a:solidFill>
                  <a:srgbClr val="1E3148">
                    <a:alpha val="20000"/>
                  </a:srgbClr>
                </a:solidFill>
              </a:rPr>
              <a:t>YES</a:t>
            </a:r>
            <a:endParaRPr lang="en-US" sz="38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9B8E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1143000"/>
          </a:xfrm>
          <a:prstGeom prst="rect">
            <a:avLst/>
          </a:prstGeom>
          <a:solidFill>
            <a:srgbClr val="0F9B8E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170432"/>
            <a:ext cx="7863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inequality is a significantly stronger predictor of national happiness than income inequality.
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EII: R²=0.369 (p&lt;0.001)  ·  Gini: R²=0.062 (p=0.647 in joint model)  ·  Finding holds across 3 robustness checks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2651760" cy="242316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5420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66928" y="30906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3493008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EII construction (PCA-weighted) + HC3 OLS + Bootstrap CI + Cook's D + Random Forest validation.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73552" y="2423160"/>
            <a:ext cx="2651760" cy="242316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0" y="25420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383280" y="30906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Policy Implication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93008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Reducing educational gaps — especially across wealth and location — may improve national well-being more than income redistribution alone.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2423160"/>
            <a:ext cx="2651760" cy="2423160"/>
          </a:xfrm>
          <a:prstGeom prst="rect">
            <a:avLst/>
          </a:prstGeom>
          <a:solidFill>
            <a:srgbClr val="1E3148"/>
          </a:solidFill>
          <a:ln/>
          <a:effectLst>
            <a:outerShdw sx="100000" sy="100000" kx="0" ky="0" algn="bl" rotWithShape="0" blurRad="127000" dist="381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99632" y="2542032"/>
            <a:ext cx="109728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9B8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199632" y="3090672"/>
            <a:ext cx="2423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99632" y="3493008"/>
            <a:ext cx="2423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0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for GDP per capita. Extend to panel data. Apply multilevel modelling for regional clustering.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Educational vs Income Inequality as Predictors of National Happiness</dc:title>
  <dc:subject>PptxGenJS Presentation</dc:subject>
  <dc:creator>Mobin Seyedmohammadi &amp; Arta Asadi Haghi</dc:creator>
  <cp:lastModifiedBy>Mobin Seyedmohammadi &amp; Arta Asadi Haghi</cp:lastModifiedBy>
  <cp:revision>1</cp:revision>
  <dcterms:created xsi:type="dcterms:W3CDTF">2026-05-04T22:33:07Z</dcterms:created>
  <dcterms:modified xsi:type="dcterms:W3CDTF">2026-05-04T22:33:07Z</dcterms:modified>
</cp:coreProperties>
</file>